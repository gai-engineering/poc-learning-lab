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962C"/>
                </a:solidFill>
                <a:latin typeface="Calibri"/>
              </a:rPr>
              <a:t>▸ GAI OBSERVE LLC · POC LEARNING LAB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Six control patterns for enterprise agentic AI</a:t>
            </a:r>
          </a:p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The Business Case — POCs 01–06</a:t>
            </a:r>
          </a:p>
          <a:p>
            <a:pPr algn="l"/>
            <a:r>
              <a:rPr sz="1500" b="0">
                <a:solidFill>
                  <a:srgbClr val="D8DEE6"/>
                </a:solidFill>
                <a:latin typeface="Calibri"/>
              </a:rPr>
              <a:t>Scripted demonstrations on synthetic data. Every figure in this deck is ILLUSTRATIVE — drawn from runs recorded in the public repository, quoted with that label.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4D4"/>
                </a:solidFill>
                <a:latin typeface="Calibri"/>
              </a:rPr>
              <a:t>GAI-Engineering/poc-learning-lab · MIT (code) · CC BY 4.0 (content)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MARKET — WHY CONTROL IS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E7C7B"/>
                </a:solidFill>
                <a:latin typeface="Calibri"/>
              </a:rPr>
              <a:t>$2.58B → $24.5B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Enterprise agentic AI market, 2024 → 2030 (Grand View Research) — 46.2% CAGR. The spend is arriving whether the controls are ready or not.</a:t>
            </a:r>
          </a:p>
          <a:p>
            <a:pPr algn="l"/>
            <a:r>
              <a:rPr sz="2000" b="1">
                <a:solidFill>
                  <a:srgbClr val="0E7C7B"/>
                </a:solidFill>
                <a:latin typeface="Calibri"/>
              </a:rPr>
              <a:t>40% of enterprise apps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will feature task-specific AI agents by the end of 2026 (Gartner, August 2025) — up from less than 5% in 2025.</a:t>
            </a:r>
          </a:p>
          <a:p>
            <a:pPr algn="l"/>
            <a:r>
              <a:rPr sz="2000" b="1">
                <a:solidFill>
                  <a:srgbClr val="0E7C7B"/>
                </a:solidFill>
                <a:latin typeface="Calibri"/>
              </a:rPr>
              <a:t>&gt;40% cancelled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of agentic AI projects will be cancelled by the end of 2027 (Gartner, June 2025) — cost, unclear value, inadequate risk controls.</a:t>
            </a:r>
          </a:p>
          <a:p>
            <a:pPr algn="l"/>
            <a:r>
              <a:rPr sz="2000" b="1">
                <a:solidFill>
                  <a:srgbClr val="0E7C7B"/>
                </a:solidFill>
                <a:latin typeface="Calibri"/>
              </a:rPr>
              <a:t>$1.5B → $41.8B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Contact-center AI spend, 2025 → 2032 (Omdia) — the buyer this lab designs for.</a:t>
            </a:r>
          </a:p>
          <a:p>
            <a:pPr algn="l"/>
            <a:r>
              <a:rPr sz="2000" b="1">
                <a:solidFill>
                  <a:srgbClr val="0E7C7B"/>
                </a:solidFill>
                <a:latin typeface="Calibri"/>
              </a:rPr>
              <a:t>The gap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Growth and cancellation are the same market read twice. The six patterns in this lab are the controls that decide which side of it a deployment lands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PATTERN 1 — GROUNDED PERCEPTION WITH A VERIFICATION LOOP (POC 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6751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Calibri"/>
              </a:rPr>
              <a:t>An agent that checks its own claims before anyone acts on them.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13 region claims · 10 survived verification · survival rate 0.769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Flag rule: confidence &lt; 0.60 = GUESS (flagged, not hidden)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The 3 failed claims are exactly the 3 flagged (0.42 / 0.35 / 0.48) — in the demo this holds by construction; the lesson is the loop, not the rate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Flip one verification outcome and the headline moves to 0.692 — try it live in the notebook (§ "Change one outcome")</a:t>
            </a:r>
          </a:p>
        </p:txBody>
      </p:sp>
      <p:pic>
        <p:nvPicPr>
          <p:cNvPr id="4" name="Picture 3" descr="infographic-01-s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868680"/>
            <a:ext cx="431668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PATTERN 2 — THE TRANSCRIPT IS THE SYSTEM OF RECORD (POC 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6751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Calibri"/>
              </a:rPr>
              <a:t>The transcript is the system of record — coordination you can replay.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12 transcript messages · 4 tasks · 2 agents · 0 side channels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3 unasked-for findings: $78.00 unused gym charge (Feb–Mar) · coffee subscription billed 3x in March vs 2x · second streaming sub started March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State = the transcript file; replay and audit read it alone</a:t>
            </a:r>
          </a:p>
        </p:txBody>
      </p:sp>
      <p:pic>
        <p:nvPicPr>
          <p:cNvPr id="4" name="Picture 3" descr="infographic-02-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868680"/>
            <a:ext cx="431668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PATTERN 3 — CONTRACT BEFORE CAPABILITY (POC 03, RODS)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6751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Calibri"/>
              </a:rPr>
              <a:t>Four lines of contract, linted before the agent ever runs.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Contract = 4 lines (Role · Output · Do-Nots · Signal)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Good contract: lint CLEAN · Bad contract: 3 flags (MISSING Do-Nots, WEAK_SIGNAL, VAGUE_OUTPUT)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Extraction: 4 obligations · termination on the typed signal EXTRACTION COMPLETE (check returned SIGNAL, never a prose word)</a:t>
            </a:r>
          </a:p>
        </p:txBody>
      </p:sp>
      <p:pic>
        <p:nvPicPr>
          <p:cNvPr id="4" name="Picture 3" descr="infographic-03-r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868680"/>
            <a:ext cx="431668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PATTERN 4 — THE ERROR IS THE CURRICULUM (POC 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6751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Calibri"/>
              </a:rPr>
              <a:t>Every outcome is labelled, and the label teaches the next attempt.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5 attempts · 1 ERROR · 1 EMPTY · 3 SUCCESS — outcomes computed from the run record (runs/attempts.csv), never typed into the summary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The error was a wrong key ('amt'); the recovery habit — print the schema first — is attempt 2, and the revised query succeeds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EMPTY means the question was wrong (category 'gym' matches no rows); the exact name from the totals ('gym-unused') succeeds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Finding: gym-unused totals $78.00 (2 x $39.00, 2026-02 and 2026-03), traced to rows in data/transactions.csv (22 rows)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Change a figure in the CSV and the finding moves — the perturbation test moves the gym amounts and watches $78.00 become $98.00 (tests/test_perturbation.py)</a:t>
            </a:r>
          </a:p>
        </p:txBody>
      </p:sp>
      <p:pic>
        <p:nvPicPr>
          <p:cNvPr id="4" name="Picture 3" descr="infographic-04-analyst-execu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868680"/>
            <a:ext cx="431596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PATTERN 5 — CHOOSE YOUR PARLIAMENT (POC 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6751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Calibri"/>
              </a:rPr>
              <a:t>Who speaks next is a design decision — count what each shape costs in calls.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Same job, three shapes, counted from runs/routing-comparison.csv: round robin 6 agent turns / 6 total calls · selector 3 agent turns + 4 routing calls / 7 total · swarm 4 agent turns + 3 hand-offs / 4 total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All three modes prepared the same pack (specialty orthopaedics, 2 slots — Tue 09:30, Wed 14:10 — unbooked, awaiting human confirmation)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These counts are the mechanics of this script — round robin runs its sequence twice by construction; the swarm takes a verification hand-back by construction. They are not live routing costs.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A router that can never finish is capped and ends INCOMPLETE (tests/test_perturbation.py, failed-router case)</a:t>
            </a:r>
          </a:p>
        </p:txBody>
      </p:sp>
      <p:pic>
        <p:nvPicPr>
          <p:cNvPr id="4" name="Picture 3" descr="infographic-05-group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868680"/>
            <a:ext cx="431596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PATTERN 6 — DISAGREEMENT IS A SENSOR (POC 06)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6751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Calibri"/>
              </a:rPr>
              <a:t>Structured disagreement allocates scarce human review to the closest fights.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3 positions debated (runs/verdicts.csv): C1 auto-renewal at +8% — REJECT (strength 5 for / 11 against) · C2 24-hour incident-notice duty — PROCEED (8 / 5) · C3 uncapped liability — REJECT (2 / 14)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Closest fight: C2, balance 0.62 — the most balanced argument in the script and the reviewer's first stop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The balance map is an illustrative argument-balance prompt for human review: it locates no genuine uncertainty, is not a risk register, and a real position requires independent evidence and counsel review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222222"/>
                </a:solidFill>
                <a:latin typeface="Calibri"/>
              </a:rPr>
              <a:t>•  Adding a fourth position produces four verdicts — the counts are computed, not typed (tests/test_perturbation.py)</a:t>
            </a:r>
          </a:p>
        </p:txBody>
      </p:sp>
      <p:pic>
        <p:nvPicPr>
          <p:cNvPr id="4" name="Picture 3" descr="infographic-06-deb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868680"/>
            <a:ext cx="431596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PORTFOLIO VIEW — WHERE THE NEXT EFFORT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E7C7B"/>
                </a:solidFill>
                <a:latin typeface="Calibri"/>
              </a:rPr>
              <a:t>Invest first — POC 03 (RODS)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The contract pattern is the most transferable asset in the lab: four lines, a linter, a typed completion signal. It generalises to every agent the lab will ever ship.</a:t>
            </a:r>
          </a:p>
          <a:p>
            <a:pPr algn="l"/>
            <a:r>
              <a:rPr sz="1900" b="1">
                <a:solidFill>
                  <a:srgbClr val="0E7C7B"/>
                </a:solidFill>
                <a:latin typeface="Calibri"/>
              </a:rPr>
              <a:t>Gated — POC 02 (transcripts)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The system-of-record pattern proceeds behind its durability gates: persistence, replay and failure recovery proven before any stronger claim.</a:t>
            </a:r>
          </a:p>
          <a:p>
            <a:pPr algn="l"/>
            <a:r>
              <a:rPr sz="1900" b="1">
                <a:solidFill>
                  <a:srgbClr val="0E7C7B"/>
                </a:solidFill>
                <a:latin typeface="Calibri"/>
              </a:rPr>
              <a:t>Teaching demo — POC 01 (perception)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Held as a teaching artefact until a real perception adapter replaces the scripted scene. Its lesson — the verification loop — is already load-bearing in POC 04.</a:t>
            </a:r>
          </a:p>
          <a:p>
            <a:pPr algn="l"/>
            <a:r>
              <a:rPr sz="1900" b="1">
                <a:solidFill>
                  <a:srgbClr val="0E7C7B"/>
                </a:solidFill>
                <a:latin typeface="Calibri"/>
              </a:rPr>
              <a:t>Day 2 (POCs 04–06)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The analyst–executor loop, group-chat routing shapes and structured debate extend the same discipline: labelled outcomes, counted calls, disagreement treated as a sensor.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METHOD — HOW THIS LAB EARNS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900"/>
              </a:spcBef>
            </a:pPr>
            <a:r>
              <a:rPr sz="1550" b="0">
                <a:solidFill>
                  <a:srgbClr val="222222"/>
                </a:solidFill>
                <a:latin typeface="Calibri"/>
              </a:rPr>
              <a:t>•  Every result is computed from data files in the repo — change an input and the result moves; each notebook carries a perturbation test that proves it.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222222"/>
                </a:solidFill>
                <a:latin typeface="Calibri"/>
              </a:rPr>
              <a:t>•  Modes are printed on the face of the work: INTERIM notebooks are scripted demonstrations; a FINAL promotion requires a real recorded run, reproducible end to end, and passes the evaluator’s full QA.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222222"/>
                </a:solidFill>
                <a:latin typeface="Calibri"/>
              </a:rPr>
              <a:t>•  Releases are signed by an independent evaluator of record, with conditions recorded in RELEASES.md and closed only on evidence.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222222"/>
                </a:solidFill>
                <a:latin typeface="Calibri"/>
              </a:rPr>
              <a:t>•  Figures of record are the data-drawn SVG infographics in business/infographics/; generated images are checked figure-by-figure at full size before they are used.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222222"/>
                </a:solidFill>
                <a:latin typeface="Calibri"/>
              </a:rPr>
              <a:t>•  Corrections are made in public, in the commit history — including this deck’s predecessors.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